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513D"/>
              </a:solidFill>
              <a:effectLst/>
            </c:spPr>
          </c:dPt>
          <c:dPt>
            <c:idx val="1"/>
            <c:bubble3D val="0"/>
            <c:spPr>
              <a:solidFill>
                <a:srgbClr val="E897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Pass (G3 ≥ 10)</c:v>
                </c:pt>
                <c:pt idx="1">
                  <c:v>Fail (G3 &lt; 10)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249</c:v>
                </c:pt>
                <c:pt idx="1">
                  <c:v>146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C05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1A0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5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7B5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97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81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AE5D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failures</c:v>
                  </c:pt>
                  <c:pt idx="1">
                    <c:v>absences</c:v>
                  </c:pt>
                  <c:pt idx="2">
                    <c:v>studytime</c:v>
                  </c:pt>
                  <c:pt idx="3">
                    <c:v>Medu</c:v>
                  </c:pt>
                  <c:pt idx="4">
                    <c:v>higher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0.31</c:v>
                </c:pt>
                <c:pt idx="1">
                  <c:v>0.22</c:v>
                </c:pt>
                <c:pt idx="2">
                  <c:v>0.18</c:v>
                </c:pt>
                <c:pt idx="3">
                  <c:v>0.15</c:v>
                </c:pt>
                <c:pt idx="4">
                  <c:v>0.14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1A0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1A0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0D0B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1A0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513D"/>
          </a:solidFill>
          <a:ln w="12700">
            <a:solidFill>
              <a:srgbClr val="C05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914400"/>
            <a:ext cx="4114800" cy="4114800"/>
          </a:xfrm>
          <a:prstGeom prst="ellipse">
            <a:avLst/>
          </a:prstGeom>
          <a:solidFill>
            <a:srgbClr val="E07B5A">
              <a:alpha val="20000"/>
            </a:srgbClr>
          </a:solidFill>
          <a:ln w="12700">
            <a:solidFill>
              <a:srgbClr val="E07B5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274320"/>
            <a:ext cx="2560320" cy="2560320"/>
          </a:xfrm>
          <a:prstGeom prst="ellipse">
            <a:avLst/>
          </a:prstGeom>
          <a:solidFill>
            <a:srgbClr val="E8974A">
              <a:alpha val="25000"/>
            </a:srgbClr>
          </a:solidFill>
          <a:ln w="12700">
            <a:solidFill>
              <a:srgbClr val="E8974A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05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Performance Prediction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Early Intervention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3493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23  |  Stages 1–8  |  Machine Learning Approach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AE5D3"/>
          </a:solidFill>
          <a:ln w="12700">
            <a:solidFill>
              <a:srgbClr val="FAE5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Predictive Analytics  •  LIME Interpretability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513D"/>
          </a:solidFill>
          <a:ln w="12700">
            <a:solidFill>
              <a:srgbClr val="C051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E5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743200" cy="777240"/>
          </a:xfrm>
          <a:prstGeom prst="rect">
            <a:avLst/>
          </a:prstGeom>
          <a:solidFill>
            <a:srgbClr val="E07B5A"/>
          </a:solidFill>
          <a:ln w="12700">
            <a:solidFill>
              <a:srgbClr val="E07B5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61872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2618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05740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students at risk of failing before it's too late, enabling educators to intervene early and improve outcomes.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E5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188720"/>
            <a:ext cx="2743200" cy="777240"/>
          </a:xfrm>
          <a:prstGeom prst="rect">
            <a:avLst/>
          </a:prstGeom>
          <a:solidFill>
            <a:srgbClr val="E07B5A"/>
          </a:solidFill>
          <a:ln w="12700">
            <a:solidFill>
              <a:srgbClr val="E07B5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61872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50208" y="12618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205740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Student Performance Dataset (ID 320) — covers demographics, social factors, study habits and grades.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AE5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188720"/>
            <a:ext cx="2743200" cy="777240"/>
          </a:xfrm>
          <a:prstGeom prst="rect">
            <a:avLst/>
          </a:prstGeom>
          <a:solidFill>
            <a:srgbClr val="E07B5A"/>
          </a:solidFill>
          <a:ln w="12700">
            <a:solidFill>
              <a:srgbClr val="E07B5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61872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76288" y="12618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55080" y="205740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Pass (G3 ≥ 10) vs Fail. Three ML models compared by ROC AUC with LIME explainability.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5A"/>
          </a:solidFill>
          <a:ln w="12700">
            <a:solidFill>
              <a:srgbClr val="E07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8-Stage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920240" cy="1554480"/>
          </a:xfrm>
          <a:prstGeom prst="rect">
            <a:avLst/>
          </a:prstGeom>
          <a:solidFill>
            <a:srgbClr val="FAE5D3"/>
          </a:solidFill>
          <a:ln w="12700">
            <a:solidFill>
              <a:srgbClr val="FAE5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1920240" cy="475488"/>
          </a:xfrm>
          <a:prstGeom prst="rect">
            <a:avLst/>
          </a:prstGeom>
          <a:solidFill>
            <a:srgbClr val="C0513D"/>
          </a:solidFill>
          <a:ln w="12700">
            <a:solidFill>
              <a:srgbClr val="C051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7099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2677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fetch_ucirepo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E5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188720"/>
            <a:ext cx="1920240" cy="475488"/>
          </a:xfrm>
          <a:prstGeom prst="rect">
            <a:avLst/>
          </a:prstGeom>
          <a:solidFill>
            <a:srgbClr val="E07B5A"/>
          </a:solidFill>
          <a:ln w="12700">
            <a:solidFill>
              <a:srgbClr val="E07B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1887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17099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2677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Pass/Fail target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188720"/>
            <a:ext cx="1920240" cy="1554480"/>
          </a:xfrm>
          <a:prstGeom prst="rect">
            <a:avLst/>
          </a:prstGeom>
          <a:solidFill>
            <a:srgbClr val="FAE5D3"/>
          </a:solidFill>
          <a:ln w="12700">
            <a:solidFill>
              <a:srgbClr val="FAE5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188720"/>
            <a:ext cx="1920240" cy="475488"/>
          </a:xfrm>
          <a:prstGeom prst="rect">
            <a:avLst/>
          </a:prstGeom>
          <a:solidFill>
            <a:srgbClr val="C0513D"/>
          </a:solidFill>
          <a:ln w="12700">
            <a:solidFill>
              <a:srgbClr val="C051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1887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17720" y="17099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22677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Encode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1887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E5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188720"/>
            <a:ext cx="1920240" cy="475488"/>
          </a:xfrm>
          <a:prstGeom prst="rect">
            <a:avLst/>
          </a:prstGeom>
          <a:solidFill>
            <a:srgbClr val="E07B5A"/>
          </a:solidFill>
          <a:ln w="12700">
            <a:solidFill>
              <a:srgbClr val="E07B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1887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66560" y="17099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22677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plot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017520"/>
            <a:ext cx="1920240" cy="1554480"/>
          </a:xfrm>
          <a:prstGeom prst="rect">
            <a:avLst/>
          </a:prstGeom>
          <a:solidFill>
            <a:srgbClr val="FAE5D3"/>
          </a:solidFill>
          <a:ln w="12700">
            <a:solidFill>
              <a:srgbClr val="FAE5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017520"/>
            <a:ext cx="1920240" cy="475488"/>
          </a:xfrm>
          <a:prstGeom prst="rect">
            <a:avLst/>
          </a:prstGeom>
          <a:solidFill>
            <a:srgbClr val="C0513D"/>
          </a:solidFill>
          <a:ln w="12700">
            <a:solidFill>
              <a:srgbClr val="C051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0175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0040" y="3538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4096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&amp; categorical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68880" y="30175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E5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68880" y="3017520"/>
            <a:ext cx="1920240" cy="475488"/>
          </a:xfrm>
          <a:prstGeom prst="rect">
            <a:avLst/>
          </a:prstGeom>
          <a:solidFill>
            <a:srgbClr val="E07B5A"/>
          </a:solidFill>
          <a:ln w="12700">
            <a:solidFill>
              <a:srgbClr val="E07B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30175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468880" y="3538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68880" y="4096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classifiers trained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3017520"/>
            <a:ext cx="1920240" cy="1554480"/>
          </a:xfrm>
          <a:prstGeom prst="rect">
            <a:avLst/>
          </a:prstGeom>
          <a:solidFill>
            <a:srgbClr val="FAE5D3"/>
          </a:solidFill>
          <a:ln w="12700">
            <a:solidFill>
              <a:srgbClr val="FAE5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3017520"/>
            <a:ext cx="1920240" cy="475488"/>
          </a:xfrm>
          <a:prstGeom prst="rect">
            <a:avLst/>
          </a:prstGeom>
          <a:solidFill>
            <a:srgbClr val="C0513D"/>
          </a:solidFill>
          <a:ln w="12700">
            <a:solidFill>
              <a:srgbClr val="C051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30175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617720" y="3538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17720" y="4096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 comparison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66560" y="30175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AE5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66560" y="3017520"/>
            <a:ext cx="1920240" cy="475488"/>
          </a:xfrm>
          <a:prstGeom prst="rect">
            <a:avLst/>
          </a:prstGeom>
          <a:solidFill>
            <a:srgbClr val="E07B5A"/>
          </a:solidFill>
          <a:ln w="12700">
            <a:solidFill>
              <a:srgbClr val="E07B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30175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766560" y="3538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66560" y="4096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explanations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8974A"/>
          </a:solidFill>
          <a:ln w="12700">
            <a:solidFill>
              <a:srgbClr val="E897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 &amp; Preprocessing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2618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Details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1920240"/>
            <a:ext cx="4206240" cy="475488"/>
          </a:xfrm>
          <a:prstGeom prst="rect">
            <a:avLst/>
          </a:prstGeom>
          <a:solidFill>
            <a:srgbClr val="FAE5D3"/>
          </a:solidFill>
          <a:ln w="12700">
            <a:solidFill>
              <a:srgbClr val="FAE5D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9202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011680" y="19202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ML Repository (ID: 320)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46888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AE5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4688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011680" y="24688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— Pass if G3 ≥ 10, else Fail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3017520"/>
            <a:ext cx="4206240" cy="475488"/>
          </a:xfrm>
          <a:prstGeom prst="rect">
            <a:avLst/>
          </a:prstGeom>
          <a:solidFill>
            <a:srgbClr val="FAE5D3"/>
          </a:solidFill>
          <a:ln w="12700">
            <a:solidFill>
              <a:srgbClr val="FAE5D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30175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Dropped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011680" y="30175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G1, G2, G3 (leakage prevention)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356616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AE5D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35661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011680" y="35661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with StandardScaler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4114800"/>
            <a:ext cx="4206240" cy="475488"/>
          </a:xfrm>
          <a:prstGeom prst="rect">
            <a:avLst/>
          </a:prstGeom>
          <a:solidFill>
            <a:srgbClr val="FAE5D3"/>
          </a:solidFill>
          <a:ln w="12700">
            <a:solidFill>
              <a:srgbClr val="FAE5D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41148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011680" y="41148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 (drop first)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937760" y="109728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AE5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5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Distribution</a:t>
            </a:r>
            <a:endParaRPr lang="en-US" sz="13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029200" y="169164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513D"/>
          </a:solidFill>
          <a:ln w="12700">
            <a:solidFill>
              <a:srgbClr val="C051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Training &amp;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AE5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2651760" cy="411480"/>
          </a:xfrm>
          <a:prstGeom prst="rect">
            <a:avLst/>
          </a:prstGeom>
          <a:solidFill>
            <a:srgbClr val="E07B5A"/>
          </a:solidFill>
          <a:ln w="12700">
            <a:solidFill>
              <a:srgbClr val="E07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002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83080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48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83080" y="2971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48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48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42793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max_depth=5, interpretable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14300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AE5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143000"/>
            <a:ext cx="2651760" cy="411480"/>
          </a:xfrm>
          <a:prstGeom prst="rect">
            <a:avLst/>
          </a:prstGeom>
          <a:solidFill>
            <a:srgbClr val="E07B5A"/>
          </a:solidFill>
          <a:ln w="12700">
            <a:solidFill>
              <a:srgbClr val="E07B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6002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331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48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83280" y="2971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971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48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83280" y="3611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48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37560" y="42793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max_iter=1000, baseline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143000"/>
            <a:ext cx="2651760" cy="3657600"/>
          </a:xfrm>
          <a:prstGeom prst="rect">
            <a:avLst/>
          </a:prstGeom>
          <a:solidFill>
            <a:srgbClr val="FAE5D3"/>
          </a:solidFill>
          <a:ln w="12700">
            <a:solidFill>
              <a:srgbClr val="C051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143000"/>
            <a:ext cx="2651760" cy="411480"/>
          </a:xfrm>
          <a:prstGeom prst="rect">
            <a:avLst/>
          </a:prstGeom>
          <a:solidFill>
            <a:srgbClr val="C0513D"/>
          </a:solidFill>
          <a:ln w="12700">
            <a:solidFill>
              <a:srgbClr val="C051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143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16002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5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2331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43800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05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263640" y="2971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43800" y="2971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05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263640" y="3611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43800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05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217920" y="42793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estimators, best model ✓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5A"/>
          </a:solidFill>
          <a:ln w="12700">
            <a:solidFill>
              <a:srgbClr val="E07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LIME Interpretability (Stage 8)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887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188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5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LIME?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65760" y="18745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(Local Interpretable Model-agnostic Explanations) explains individual predictions of the Gradient Boosting model by fitting a simple linear model around each student's data point.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0"/>
            <a:ext cx="475488" cy="4754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2004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Outputs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767328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3749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features driving each prediction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178808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7240" y="4160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Educator-friendly HTML explanation file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590288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77240" y="4572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student in the test set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4937760" y="109728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AE5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Text 9"/>
          <p:cNvSpPr/>
          <p:nvPr/>
        </p:nvSpPr>
        <p:spPr>
          <a:xfrm>
            <a:off x="502920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Predictive Features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983480" y="1691640"/>
          <a:ext cx="37490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E07B5A">
              <a:alpha val="15000"/>
            </a:srgbClr>
          </a:solidFill>
          <a:ln w="12700">
            <a:solidFill>
              <a:srgbClr val="E07B5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E8974A">
              <a:alpha val="15000"/>
            </a:srgbClr>
          </a:solidFill>
          <a:ln w="12700">
            <a:solidFill>
              <a:srgbClr val="E8974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513D"/>
          </a:solidFill>
          <a:ln w="12700">
            <a:solidFill>
              <a:srgbClr val="C051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8368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6858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5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E5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508760"/>
            <a:ext cx="109728" cy="1280160"/>
          </a:xfrm>
          <a:prstGeom prst="rect">
            <a:avLst/>
          </a:prstGeom>
          <a:solidFill>
            <a:srgbClr val="C0513D"/>
          </a:solidFill>
          <a:ln w="12700">
            <a:solidFill>
              <a:srgbClr val="C051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15819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5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280160" y="16002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Model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80160" y="207568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achieved ROC AUC of ~0.93, outperforming Decision Tree and Logistic Regression.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01752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E5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3017520"/>
            <a:ext cx="109728" cy="1280160"/>
          </a:xfrm>
          <a:prstGeom prst="rect">
            <a:avLst/>
          </a:prstGeom>
          <a:solidFill>
            <a:srgbClr val="C0513D"/>
          </a:solidFill>
          <a:ln w="12700">
            <a:solidFill>
              <a:srgbClr val="C051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3090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5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280160" y="3108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Complete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80160" y="358444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8-stage ML pipeline from raw data to saved model (best_student_model.joblib) and LIME HTML report.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150876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E5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46320" y="1508760"/>
            <a:ext cx="109728" cy="1280160"/>
          </a:xfrm>
          <a:prstGeom prst="rect">
            <a:avLst/>
          </a:prstGeom>
          <a:solidFill>
            <a:srgbClr val="C0513D"/>
          </a:solidFill>
          <a:ln w="12700">
            <a:solidFill>
              <a:srgbClr val="C051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10912" y="15819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5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669280" y="16002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669280" y="207568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identifies past failures, absences, and study time as the strongest predictors of student outcomes.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846320" y="301752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E5D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846320" y="3017520"/>
            <a:ext cx="109728" cy="1280160"/>
          </a:xfrm>
          <a:prstGeom prst="rect">
            <a:avLst/>
          </a:prstGeom>
          <a:solidFill>
            <a:srgbClr val="C0513D"/>
          </a:solidFill>
          <a:ln w="12700">
            <a:solidFill>
              <a:srgbClr val="C051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10912" y="3090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5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669280" y="3108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669280" y="358444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 can use this tool proactively to target at-risk students before final exams.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AE5D3"/>
          </a:solidFill>
          <a:ln w="12700">
            <a:solidFill>
              <a:srgbClr val="FAE5D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23  •  Student Performance Prediction  •  Stages 1–8 Complete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Prediction &amp; Early Intervention</dc:title>
  <dc:subject>PptxGenJS Presentation</dc:subject>
  <dc:creator>PptxGenJS</dc:creator>
  <cp:lastModifiedBy>PptxGenJS</cp:lastModifiedBy>
  <cp:revision>1</cp:revision>
  <dcterms:created xsi:type="dcterms:W3CDTF">2026-04-25T17:25:46Z</dcterms:created>
  <dcterms:modified xsi:type="dcterms:W3CDTF">2026-04-25T17:25:46Z</dcterms:modified>
</cp:coreProperties>
</file>